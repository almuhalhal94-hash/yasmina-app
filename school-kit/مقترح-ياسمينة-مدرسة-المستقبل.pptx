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فكرة" id="{cb47fc0b-429c-0dc8-6192-d6ed1550e4da}">
          <p14:sldIdLst>
            <p14:sldId id="256"/>
            <p14:sldId id="257"/>
            <p14:sldId id="258"/>
          </p14:sldIdLst>
        </p14:section>
        <p14:section name="المحتوى" id="{384d3c9e-1d15-d1c6-cb48-d99d1b8f39a0}">
          <p14:sldIdLst>
            <p14:sldId id="259"/>
            <p14:sldId id="260"/>
            <p14:sldId id="261"/>
          </p14:sldIdLst>
        </p14:section>
        <p14:section name="التحفيز والمتابعة" id="{8ef3765a-cc4f-10b4-1796-1adab85acc49}">
          <p14:sldIdLst>
            <p14:sldId id="262"/>
            <p14:sldId id="263"/>
            <p14:sldId id="264"/>
          </p14:sldIdLst>
        </p14:section>
        <p14:section name="الإطلاق" id="{3c1d03ba-364e-ec08-c6e3-03aa2687f5e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نقدّم ياسمينة: تطبيق صُمّم أصلًا لطالبة في الصف الأول، ونقترح إتاحته لكل طالبات المدرسة. الفكرة: تحويل كتب الصف الأول إلى ألعاب قصيرة تحبها البنت، مع متابعة سهلة لولي الأمر.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أرقام سريعة: 18 درس تلاوة، 11 درس تربية إسلامية بالألعاب، الحروف والأرقام الإنجليزية، وبدون أي حسابات أو إعلانات.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 ليس زيادة وقت الشاشة، بل جعل الوقت الموجود أصلًا وقتًا مفيدًا ومرتبطًا بما تدرسه البنت في الصف.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المحتوى مأخوذ من كتب الصف الأول (الجزء الأول)، ونص القرآن بالرسم العثماني من مصدر موثّق، والتلاوة بصوت الشيخ الحصري (المصحف المعلّم).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أمثلة حقيقية من التطبيق: درس تلاوة، لعبة ترتيب خطوات الوضوء، صفحة حرف إنجليزي بأربع مهام، ومرسم الحروف.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الجلسة مرتبة تلقائيًا حسب اليوم. الحفظ الجديد يمر بخمس خطوات: الاستماع ثلاث مرات، الترديد، ربط الآيات، التسميع، والتثبيت قبل النوم.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التحفيز إيجابي دائمًا: لا عقاب ولا خسارة، فقط نجوم وأوسمة واحتفالات بصرية بسيطة. بلا موسيقى.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ولي الأمر هو الشريك الأساسي: يعلّم على التسميع، ويحدد المكافأة، ويشوف تقرير الأسبوع. ويمكن للمعلمة تطلب لقطة من جدول الأسبوع.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مهمة للإدارة: التطبيق لا يجمع أي بيانات، ولا يحتاج حسابات، ولا فيه إعلانات. كل التقدّم يبقى على جهاز الطالبة.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يحتاج متجر تطبيقات. التطبيق نفسه فيه صفحة «ثبّتي ياسمينة» تشرح الخطوات حسب نوع الجهاز، وفيديو توجيهي قصير يُرسل لأولياء الأمور.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خطة خفيفة لا تضيف عبئًا على المعلمات: تجربة، ثم إرسال للأهالي، ثم تحدٍّ أسبوعي بسيط، ثم تطوير مستمر.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نختم بالرابط ورمز QR، ونفتح المجال للأسئلة والملاحظات.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B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B86"/>
                </a:solidFill>
              </a:rPr>
              <a:t>ياسمينة · مدرسة المستقبل الابتدائية للبنات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lmuhalhal94-hash.github.io/yasmina-app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lmuhalhal94-hash.github.io/yasmina-app/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1097280" y="548640"/>
            <a:ext cx="6583680" cy="6583680"/>
          </a:xfrm>
          <a:prstGeom prst="ellipse">
            <a:avLst/>
          </a:prstGeom>
          <a:solidFill>
            <a:srgbClr val="FF6FB5">
              <a:alpha val="22000"/>
            </a:srgbClr>
          </a:solidFill>
          <a:ln/>
        </p:spPr>
      </p:sp>
      <p:pic>
        <p:nvPicPr>
          <p:cNvPr id="3" name="phone-school" descr="/tmp/claude-0/-home-user-yasmina-app/2555f106-78c0-5b0d-99e9-a3fe93f08748/scratchpad/t/mk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2692085" cy="5394960"/>
          </a:xfrm>
          <a:prstGeom prst="rect">
            <a:avLst/>
          </a:prstGeom>
        </p:spPr>
      </p:pic>
      <p:pic>
        <p:nvPicPr>
          <p:cNvPr id="4" name="phone-home" descr="/tmp/claude-0/-home-user-yasmina-app/2555f106-78c0-5b0d-99e9-a3fe93f08748/scratchpad/t/mk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02920"/>
            <a:ext cx="2920228" cy="5852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12480" y="10515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FD1E8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مقترح تطبيق تعليمي</a:t>
            </a:r>
            <a:endParaRPr lang="ar-SA" sz="16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ياسمينة 🌸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383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rgbClr val="FFD1E8"/>
                </a:solidFill>
              </a:rPr>
              <a:t>تطبيق ممتع يرافق طالبات مدرسة المستقبل الابتدائية للبنات في القرآن الكريم وكتب المدرسة والإنجليزي</a:t>
            </a:r>
            <a:endParaRPr lang="ar-SA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4526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B703"/>
                </a:solidFill>
              </a:rPr>
              <a:t>يتثبّت على الجوال والآيباد بدون متجر — مجانًا</a:t>
            </a:r>
            <a:endParaRPr lang="ar-SA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5989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D8B6CF"/>
                </a:solidFill>
              </a:rPr>
              <a:t>إعداد: أ. طلال المهلهل — ولي أمر طالبة   ·   أكتوبر 2026</a:t>
            </a:r>
            <a:endParaRPr lang="ar-SA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ياسمينة باختصار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تطبيق يحوّل منهج الصف الأول إلى دروس قصيرة وألعاب، ويشتغل على أي جوال أو آيباد أو كمبيوتر</a:t>
            </a:r>
            <a:endParaRPr lang="ar-SA" sz="1800" dirty="0"/>
          </a:p>
        </p:txBody>
      </p:sp>
      <p:sp>
        <p:nvSpPr>
          <p:cNvPr id="4" name="stat-card-0"/>
          <p:cNvSpPr/>
          <p:nvPr/>
        </p:nvSpPr>
        <p:spPr>
          <a:xfrm>
            <a:off x="9109481" y="2148840"/>
            <a:ext cx="2533574" cy="3566160"/>
          </a:xfrm>
          <a:prstGeom prst="roundRect">
            <a:avLst>
              <a:gd name="adj" fmla="val 79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09481" y="2468880"/>
            <a:ext cx="25335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292361" y="3931920"/>
            <a:ext cx="21678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درس تلاوة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292361" y="4526280"/>
            <a:ext cx="21678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8A6B86"/>
                </a:solidFill>
              </a:rPr>
              <a:t>من كتاب تلاوة القرآن الكريم</a:t>
            </a:r>
            <a:endParaRPr lang="ar-SA" sz="1400" dirty="0"/>
          </a:p>
        </p:txBody>
      </p:sp>
      <p:sp>
        <p:nvSpPr>
          <p:cNvPr id="8" name="stat-card-1"/>
          <p:cNvSpPr/>
          <p:nvPr/>
        </p:nvSpPr>
        <p:spPr>
          <a:xfrm>
            <a:off x="6255868" y="2148840"/>
            <a:ext cx="2533574" cy="3566160"/>
          </a:xfrm>
          <a:prstGeom prst="roundRect">
            <a:avLst>
              <a:gd name="adj" fmla="val 79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55868" y="2468880"/>
            <a:ext cx="25335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6438748" y="3931920"/>
            <a:ext cx="21678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درس تربية إسلامية</a:t>
            </a:r>
            <a:endParaRPr lang="ar-SA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38748" y="4526280"/>
            <a:ext cx="21678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8A6B86"/>
                </a:solidFill>
              </a:rPr>
              <a:t>عقيدة · عبادات · سيرة · أخلاق</a:t>
            </a:r>
            <a:endParaRPr lang="ar-SA" sz="1400" dirty="0"/>
          </a:p>
        </p:txBody>
      </p:sp>
      <p:sp>
        <p:nvSpPr>
          <p:cNvPr id="12" name="stat-card-2"/>
          <p:cNvSpPr/>
          <p:nvPr/>
        </p:nvSpPr>
        <p:spPr>
          <a:xfrm>
            <a:off x="3402254" y="2148840"/>
            <a:ext cx="2533574" cy="3566160"/>
          </a:xfrm>
          <a:prstGeom prst="roundRect">
            <a:avLst>
              <a:gd name="adj" fmla="val 79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02254" y="2468880"/>
            <a:ext cx="25335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3585134" y="3931920"/>
            <a:ext cx="21678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حرفًا ورقمًا</a:t>
            </a:r>
            <a:endParaRPr lang="ar-SA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4526280"/>
            <a:ext cx="21678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8A6B86"/>
                </a:solidFill>
              </a:rPr>
              <a:t>English A–Z وأرقام 1–20</a:t>
            </a:r>
            <a:endParaRPr lang="ar-SA" sz="1400" dirty="0"/>
          </a:p>
        </p:txBody>
      </p:sp>
      <p:sp>
        <p:nvSpPr>
          <p:cNvPr id="16" name="stat-card-3"/>
          <p:cNvSpPr/>
          <p:nvPr/>
        </p:nvSpPr>
        <p:spPr>
          <a:xfrm>
            <a:off x="548640" y="2148840"/>
            <a:ext cx="2533574" cy="3566160"/>
          </a:xfrm>
          <a:prstGeom prst="roundRect">
            <a:avLst>
              <a:gd name="adj" fmla="val 79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2468880"/>
            <a:ext cx="253357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B72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31920"/>
            <a:ext cx="21678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حسابات أو إعلانات</a:t>
            </a:r>
            <a:endParaRPr lang="ar-SA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26280"/>
            <a:ext cx="216781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8A6B86"/>
                </a:solidFill>
              </a:rPr>
              <a:t>وكل البيانات على جهاز الطالبة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من شاشة تستهلك الوقت… إلى شاشة تعلّم</a:t>
            </a:r>
            <a:endParaRPr lang="en-US" sz="3600" dirty="0"/>
          </a:p>
        </p:txBody>
      </p:sp>
      <p:sp>
        <p:nvSpPr>
          <p:cNvPr id="3" name="col-0"/>
          <p:cNvSpPr/>
          <p:nvPr/>
        </p:nvSpPr>
        <p:spPr>
          <a:xfrm>
            <a:off x="6522415" y="1463040"/>
            <a:ext cx="5120640" cy="4480560"/>
          </a:xfrm>
          <a:prstGeom prst="roundRect">
            <a:avLst>
              <a:gd name="adj" fmla="val 4490"/>
            </a:avLst>
          </a:prstGeom>
          <a:solidFill>
            <a:srgbClr val="FFE0E8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42455" y="1737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C23D5C"/>
                </a:solidFill>
              </a:rPr>
              <a:t>التحدي اليوم</a:t>
            </a:r>
            <a:endParaRPr lang="ar-SA" sz="2400" dirty="0"/>
          </a:p>
        </p:txBody>
      </p:sp>
      <p:sp>
        <p:nvSpPr>
          <p:cNvPr id="5" name="ico-00"/>
          <p:cNvSpPr/>
          <p:nvPr/>
        </p:nvSpPr>
        <p:spPr>
          <a:xfrm>
            <a:off x="10591495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91495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42455" y="256032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وقت طويل على الجوال في محتوى غير هادف</a:t>
            </a:r>
            <a:endParaRPr lang="ar-SA" sz="1700" dirty="0"/>
          </a:p>
        </p:txBody>
      </p:sp>
      <p:sp>
        <p:nvSpPr>
          <p:cNvPr id="8" name="ico-01"/>
          <p:cNvSpPr/>
          <p:nvPr/>
        </p:nvSpPr>
        <p:spPr>
          <a:xfrm>
            <a:off x="10591495" y="3611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91495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42455" y="36118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صعوبة مراجعة دروس الكتاب في البيت</a:t>
            </a:r>
            <a:endParaRPr lang="ar-SA" sz="1700" dirty="0"/>
          </a:p>
        </p:txBody>
      </p:sp>
      <p:sp>
        <p:nvSpPr>
          <p:cNvPr id="11" name="ico-02"/>
          <p:cNvSpPr/>
          <p:nvPr/>
        </p:nvSpPr>
        <p:spPr>
          <a:xfrm>
            <a:off x="10591495" y="4663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91495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👪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842455" y="466344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ولي الأمر ما عنده طريقة سهلة يتابع فيها</a:t>
            </a:r>
            <a:endParaRPr lang="ar-SA" sz="1700" dirty="0"/>
          </a:p>
        </p:txBody>
      </p:sp>
      <p:sp>
        <p:nvSpPr>
          <p:cNvPr id="14" name="col-1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4490"/>
            </a:avLst>
          </a:prstGeom>
          <a:solidFill>
            <a:srgbClr val="CBF3EC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1737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C8F85"/>
                </a:solidFill>
              </a:rPr>
              <a:t>ما تقدمه ياسمينة</a:t>
            </a:r>
            <a:endParaRPr lang="ar-SA" sz="2400" dirty="0"/>
          </a:p>
        </p:txBody>
      </p:sp>
      <p:sp>
        <p:nvSpPr>
          <p:cNvPr id="16" name="ico-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56032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شاشة هادفة مبنية على كتب الصف الأول نفسها</a:t>
            </a:r>
            <a:endParaRPr lang="ar-SA" sz="1700" dirty="0"/>
          </a:p>
        </p:txBody>
      </p:sp>
      <p:sp>
        <p:nvSpPr>
          <p:cNvPr id="19" name="ico-11"/>
          <p:cNvSpPr/>
          <p:nvPr/>
        </p:nvSpPr>
        <p:spPr>
          <a:xfrm>
            <a:off x="4617720" y="3611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6118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جلسة يومية قصيرة ومرتّبة خطوة بخطوة</a:t>
            </a:r>
            <a:endParaRPr lang="ar-SA" sz="1700" dirty="0"/>
          </a:p>
        </p:txBody>
      </p:sp>
      <p:sp>
        <p:nvSpPr>
          <p:cNvPr id="22" name="ico-12"/>
          <p:cNvSpPr/>
          <p:nvPr/>
        </p:nvSpPr>
        <p:spPr>
          <a:xfrm>
            <a:off x="4617720" y="46634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66344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وضع للوالدين فيه جدول الأسبوع والتسميع</a:t>
            </a:r>
            <a:endParaRPr lang="ar-SA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FB5"/>
                </a:solidFill>
              </a:rPr>
              <a:t>←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كتب مدرستي صارت ألعاب</a:t>
            </a:r>
            <a:endParaRPr lang="en-US" sz="3600" dirty="0"/>
          </a:p>
        </p:txBody>
      </p:sp>
      <p:pic>
        <p:nvPicPr>
          <p:cNvPr id="3" name="phone-school" descr="/tmp/claude-0/-home-user-yasmina-app/2555f106-78c0-5b0d-99e9-a3fe93f08748/scratchpad/t/mk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555199" cy="5120640"/>
          </a:xfrm>
          <a:prstGeom prst="rect">
            <a:avLst/>
          </a:prstGeom>
        </p:spPr>
      </p:pic>
      <p:sp>
        <p:nvSpPr>
          <p:cNvPr id="4" name="subj-0"/>
          <p:cNvSpPr/>
          <p:nvPr/>
        </p:nvSpPr>
        <p:spPr>
          <a:xfrm>
            <a:off x="3931920" y="1325880"/>
            <a:ext cx="7711135" cy="841248"/>
          </a:xfrm>
          <a:prstGeom prst="roundRect">
            <a:avLst>
              <a:gd name="adj" fmla="val 2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5" name="subj-ico-0"/>
          <p:cNvSpPr/>
          <p:nvPr/>
        </p:nvSpPr>
        <p:spPr>
          <a:xfrm>
            <a:off x="10865815" y="1426464"/>
            <a:ext cx="640080" cy="640080"/>
          </a:xfrm>
          <a:prstGeom prst="ellipse">
            <a:avLst/>
          </a:prstGeom>
          <a:solidFill>
            <a:srgbClr val="FFD1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865815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325880"/>
            <a:ext cx="6659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4B1640"/>
                </a:solidFill>
              </a:rPr>
              <a:t>تلاوتي  </a:t>
            </a:r>
            <a:pPr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18 درسًا: أستمع للشيخ الحصري المعلّم، أقرأ الكلمات، أوصّل المعاني، وأرتّب الآيات</a:t>
            </a:r>
            <a:endParaRPr lang="ar-SA" sz="1800" dirty="0"/>
          </a:p>
        </p:txBody>
      </p:sp>
      <p:sp>
        <p:nvSpPr>
          <p:cNvPr id="8" name="subj-1"/>
          <p:cNvSpPr/>
          <p:nvPr/>
        </p:nvSpPr>
        <p:spPr>
          <a:xfrm>
            <a:off x="3931920" y="2313432"/>
            <a:ext cx="7711135" cy="841248"/>
          </a:xfrm>
          <a:prstGeom prst="roundRect">
            <a:avLst>
              <a:gd name="adj" fmla="val 2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9" name="subj-ico-1"/>
          <p:cNvSpPr/>
          <p:nvPr/>
        </p:nvSpPr>
        <p:spPr>
          <a:xfrm>
            <a:off x="10865815" y="2414016"/>
            <a:ext cx="640080" cy="640080"/>
          </a:xfrm>
          <a:prstGeom prst="ellipse">
            <a:avLst/>
          </a:prstGeom>
          <a:solidFill>
            <a:srgbClr val="CBF3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865815" y="2414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🕌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313432"/>
            <a:ext cx="6659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4B1640"/>
                </a:solidFill>
              </a:rPr>
              <a:t>ديني  </a:t>
            </a:r>
            <a:pPr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دروس العقيدة والعبادات والسيرة والأخلاق بقصص مصوّرة وألعاب: الوضوء، الصدق، الأمانة…</a:t>
            </a:r>
            <a:endParaRPr lang="ar-SA" sz="1800" dirty="0"/>
          </a:p>
        </p:txBody>
      </p:sp>
      <p:sp>
        <p:nvSpPr>
          <p:cNvPr id="12" name="subj-2"/>
          <p:cNvSpPr/>
          <p:nvPr/>
        </p:nvSpPr>
        <p:spPr>
          <a:xfrm>
            <a:off x="3931920" y="3300984"/>
            <a:ext cx="7711135" cy="841248"/>
          </a:xfrm>
          <a:prstGeom prst="roundRect">
            <a:avLst>
              <a:gd name="adj" fmla="val 2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3" name="subj-ico-2"/>
          <p:cNvSpPr/>
          <p:nvPr/>
        </p:nvSpPr>
        <p:spPr>
          <a:xfrm>
            <a:off x="10865815" y="3401568"/>
            <a:ext cx="640080" cy="640080"/>
          </a:xfrm>
          <a:prstGeom prst="ellipse">
            <a:avLst/>
          </a:prstGeom>
          <a:solidFill>
            <a:srgbClr val="FFE0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65815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🇧🇭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300984"/>
            <a:ext cx="6659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4B1640"/>
                </a:solidFill>
              </a:rPr>
              <a:t>وطني البحرين  </a:t>
            </a:r>
            <a:pPr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عقد اللؤلؤ لنصوص الكتاب، تلوين العلم، و«أحبّ وطني»</a:t>
            </a:r>
            <a:endParaRPr lang="ar-SA" sz="1800" dirty="0"/>
          </a:p>
        </p:txBody>
      </p:sp>
      <p:sp>
        <p:nvSpPr>
          <p:cNvPr id="16" name="subj-3"/>
          <p:cNvSpPr/>
          <p:nvPr/>
        </p:nvSpPr>
        <p:spPr>
          <a:xfrm>
            <a:off x="3931920" y="4288536"/>
            <a:ext cx="7711135" cy="841248"/>
          </a:xfrm>
          <a:prstGeom prst="roundRect">
            <a:avLst>
              <a:gd name="adj" fmla="val 2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7" name="subj-ico-3"/>
          <p:cNvSpPr/>
          <p:nvPr/>
        </p:nvSpPr>
        <p:spPr>
          <a:xfrm>
            <a:off x="10865815" y="4389120"/>
            <a:ext cx="640080" cy="640080"/>
          </a:xfrm>
          <a:prstGeom prst="ellipse">
            <a:avLst/>
          </a:prstGeom>
          <a:solidFill>
            <a:srgbClr val="D6F3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865815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4288536"/>
            <a:ext cx="6659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4B1640"/>
                </a:solidFill>
              </a:rPr>
              <a:t>English ABC  </a:t>
            </a:r>
            <a:pPr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كتابة الحروف بالإصبع، تلوين الصور، الأرقام 1–20، وأنماط الكتابة</a:t>
            </a:r>
            <a:endParaRPr lang="ar-SA" sz="1800" dirty="0"/>
          </a:p>
        </p:txBody>
      </p:sp>
      <p:sp>
        <p:nvSpPr>
          <p:cNvPr id="20" name="subj-4"/>
          <p:cNvSpPr/>
          <p:nvPr/>
        </p:nvSpPr>
        <p:spPr>
          <a:xfrm>
            <a:off x="3931920" y="5276088"/>
            <a:ext cx="7711135" cy="841248"/>
          </a:xfrm>
          <a:prstGeom prst="roundRect">
            <a:avLst>
              <a:gd name="adj" fmla="val 2391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1" name="subj-ico-4"/>
          <p:cNvSpPr/>
          <p:nvPr/>
        </p:nvSpPr>
        <p:spPr>
          <a:xfrm>
            <a:off x="10865815" y="5376672"/>
            <a:ext cx="640080" cy="640080"/>
          </a:xfrm>
          <a:prstGeom prst="ellipse">
            <a:avLst/>
          </a:prstGeom>
          <a:solidFill>
            <a:srgbClr val="ECE2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865815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5276088"/>
            <a:ext cx="66595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4B1640"/>
                </a:solidFill>
              </a:rPr>
              <a:t>مرسم الحروف  </a:t>
            </a:r>
            <a:pPr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تلوّن الحروف العربية والإنجليزية واسمها بدون ما يطلع اللون برّا الحرف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جولة سريعة داخل التطبيق</a:t>
            </a:r>
            <a:endParaRPr lang="en-US" sz="3600" dirty="0"/>
          </a:p>
        </p:txBody>
      </p:sp>
      <p:pic>
        <p:nvPicPr>
          <p:cNvPr id="3" name="gal-tl-lesson" descr="/tmp/claude-0/-home-user-yasmina-app/2555f106-78c0-5b0d-99e9-a3fe93f08748/scratchpad/t/mk/tl-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6796" y="1234440"/>
            <a:ext cx="2098914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30373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درس تلاوة: «أتعرّف سورتي»</a:t>
            </a:r>
            <a:endParaRPr lang="ar-SA" sz="1500" dirty="0"/>
          </a:p>
        </p:txBody>
      </p:sp>
      <p:pic>
        <p:nvPicPr>
          <p:cNvPr id="5" name="gal-din-wudu" descr="/tmp/claude-0/-home-user-yasmina-app/2555f106-78c0-5b0d-99e9-a3fe93f08748/scratchpad/t/mk/din-wud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193" y="1234440"/>
            <a:ext cx="2098914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5677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رتّبي خطوات الوضوء</a:t>
            </a:r>
            <a:endParaRPr lang="ar-SA" sz="1500" dirty="0"/>
          </a:p>
        </p:txBody>
      </p:sp>
      <p:pic>
        <p:nvPicPr>
          <p:cNvPr id="7" name="gal-abc-letter" descr="/tmp/claude-0/-home-user-yasmina-app/2555f106-78c0-5b0d-99e9-a3fe93f08748/scratchpad/t/mk/abc-le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589" y="1234440"/>
            <a:ext cx="2098914" cy="4206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83166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حرف B: اكتبي ولوّني ودوّري</a:t>
            </a:r>
            <a:endParaRPr lang="ar-SA" sz="1500" dirty="0"/>
          </a:p>
        </p:txBody>
      </p:sp>
      <p:pic>
        <p:nvPicPr>
          <p:cNvPr id="9" name="gal-art" descr="/tmp/claude-0/-home-user-yasmina-app/2555f106-78c0-5b0d-99e9-a3fe93f08748/scratchpad/t/mk/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85" y="1234440"/>
            <a:ext cx="2098914" cy="4206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9562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مرسم الحروف بالإصبع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جلسة يومية قصيرة… وكل خطوة واضحة</a:t>
            </a:r>
            <a:endParaRPr lang="en-US" sz="3600" dirty="0"/>
          </a:p>
        </p:txBody>
      </p:sp>
      <p:sp>
        <p:nvSpPr>
          <p:cNvPr id="3" name="flow-line"/>
          <p:cNvSpPr/>
          <p:nvPr/>
        </p:nvSpPr>
        <p:spPr>
          <a:xfrm>
            <a:off x="1473175" y="2514600"/>
            <a:ext cx="9245346" cy="0"/>
          </a:xfrm>
          <a:prstGeom prst="line">
            <a:avLst/>
          </a:prstGeom>
          <a:noFill/>
          <a:ln w="76200">
            <a:solidFill>
              <a:srgbClr val="F6D3E3"/>
            </a:solidFill>
            <a:prstDash val="dash"/>
          </a:ln>
        </p:spPr>
      </p:sp>
      <p:sp>
        <p:nvSpPr>
          <p:cNvPr id="4" name="flow-0"/>
          <p:cNvSpPr/>
          <p:nvPr/>
        </p:nvSpPr>
        <p:spPr>
          <a:xfrm>
            <a:off x="10124161" y="1920240"/>
            <a:ext cx="1188720" cy="1188720"/>
          </a:xfrm>
          <a:prstGeom prst="ellipse">
            <a:avLst/>
          </a:prstGeom>
          <a:solidFill>
            <a:srgbClr val="FFD1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24161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🌬️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92841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04121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بسم الله</a:t>
            </a:r>
            <a:endParaRPr lang="ar-S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04121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دقيقة تهيئة</a:t>
            </a:r>
            <a:endParaRPr lang="ar-SA" sz="1400" dirty="0"/>
          </a:p>
        </p:txBody>
      </p:sp>
      <p:sp>
        <p:nvSpPr>
          <p:cNvPr id="9" name="flow-1"/>
          <p:cNvSpPr/>
          <p:nvPr/>
        </p:nvSpPr>
        <p:spPr>
          <a:xfrm>
            <a:off x="8275091" y="1920240"/>
            <a:ext cx="1188720" cy="1188720"/>
          </a:xfrm>
          <a:prstGeom prst="ellipse">
            <a:avLst/>
          </a:prstGeom>
          <a:solidFill>
            <a:srgbClr val="CBF3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091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143771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051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مراجعة</a:t>
            </a:r>
            <a:endParaRPr lang="ar-SA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955051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القريب والبعيد</a:t>
            </a:r>
            <a:endParaRPr lang="ar-SA" sz="1400" dirty="0"/>
          </a:p>
        </p:txBody>
      </p:sp>
      <p:sp>
        <p:nvSpPr>
          <p:cNvPr id="14" name="flow-2"/>
          <p:cNvSpPr/>
          <p:nvPr/>
        </p:nvSpPr>
        <p:spPr>
          <a:xfrm>
            <a:off x="6426022" y="1920240"/>
            <a:ext cx="1188720" cy="1188720"/>
          </a:xfrm>
          <a:prstGeom prst="ellipse">
            <a:avLst/>
          </a:prstGeom>
          <a:solidFill>
            <a:srgbClr val="FFE8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6022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294702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0598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حفظ جديد</a:t>
            </a:r>
            <a:endParaRPr lang="ar-SA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105982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آية أو آيتان بخمس خطوات</a:t>
            </a:r>
            <a:endParaRPr lang="ar-SA" sz="1400" dirty="0"/>
          </a:p>
        </p:txBody>
      </p:sp>
      <p:sp>
        <p:nvSpPr>
          <p:cNvPr id="19" name="flow-3"/>
          <p:cNvSpPr/>
          <p:nvPr/>
        </p:nvSpPr>
        <p:spPr>
          <a:xfrm>
            <a:off x="4576953" y="1920240"/>
            <a:ext cx="1188720" cy="1188720"/>
          </a:xfrm>
          <a:prstGeom prst="ellipse">
            <a:avLst/>
          </a:prstGeom>
          <a:solidFill>
            <a:srgbClr val="D6F3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6953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🤸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445633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56913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استراحة حركة</a:t>
            </a:r>
            <a:endParaRPr lang="ar-SA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256913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3 دقائق</a:t>
            </a:r>
            <a:endParaRPr lang="ar-SA" sz="1400" dirty="0"/>
          </a:p>
        </p:txBody>
      </p:sp>
      <p:sp>
        <p:nvSpPr>
          <p:cNvPr id="24" name="flow-4"/>
          <p:cNvSpPr/>
          <p:nvPr/>
        </p:nvSpPr>
        <p:spPr>
          <a:xfrm>
            <a:off x="2727884" y="1920240"/>
            <a:ext cx="1188720" cy="1188720"/>
          </a:xfrm>
          <a:prstGeom prst="ellipse">
            <a:avLst/>
          </a:prstGeom>
          <a:solidFill>
            <a:srgbClr val="ECE2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27884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🎈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3596564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07844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English</a:t>
            </a:r>
            <a:endParaRPr lang="ar-SA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2407844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صوت وكلمات ولعبة</a:t>
            </a:r>
            <a:endParaRPr lang="ar-SA" sz="1400" dirty="0"/>
          </a:p>
        </p:txBody>
      </p:sp>
      <p:sp>
        <p:nvSpPr>
          <p:cNvPr id="29" name="flow-5"/>
          <p:cNvSpPr/>
          <p:nvPr/>
        </p:nvSpPr>
        <p:spPr>
          <a:xfrm>
            <a:off x="878815" y="1920240"/>
            <a:ext cx="1188720" cy="11887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8815" y="1920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1747495" y="1783080"/>
            <a:ext cx="384048" cy="384048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8775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نجمة اليوم</a:t>
            </a:r>
            <a:endParaRPr lang="ar-SA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58775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وبطاقة تهنئة للعائلة</a:t>
            </a:r>
            <a:endParaRPr lang="ar-SA" sz="1400" dirty="0"/>
          </a:p>
        </p:txBody>
      </p:sp>
      <p:sp>
        <p:nvSpPr>
          <p:cNvPr id="34" name="week-note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19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728655" y="4800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7853477" y="4919472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4B1640"/>
                </a:solidFill>
              </a:rPr>
              <a:t>من الأحد إلى الأربعاء</a:t>
            </a:r>
            <a:endParaRPr lang="ar-SA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853477" y="530352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حفظ ومراجعة</a:t>
            </a:r>
            <a:endParaRPr lang="ar-SA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213397" y="4800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4338218" y="4919472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4B1640"/>
                </a:solidFill>
              </a:rPr>
              <a:t>الخميس</a:t>
            </a:r>
            <a:endParaRPr lang="ar-SA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338218" y="530352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تسميع وألعاب وصندوق مكافأة</a:t>
            </a:r>
            <a:endParaRPr lang="ar-SA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698138" y="4800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919472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4B1640"/>
                </a:solidFill>
              </a:rPr>
              <a:t>الجمعة والسبت</a:t>
            </a:r>
            <a:endParaRPr lang="ar-SA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303520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راحة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ليش البنت تحبه؟ لأنها تكسب كل يوم</a:t>
            </a:r>
            <a:endParaRPr lang="en-US" sz="3600" dirty="0"/>
          </a:p>
        </p:txBody>
      </p:sp>
      <p:pic>
        <p:nvPicPr>
          <p:cNvPr id="3" name="phone-stars" descr="/tmp/claude-0/-home-user-yasmina-app/2555f106-78c0-5b0d-99e9-a3fe93f08748/scratchpad/t/mk/st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555199" cy="5120640"/>
          </a:xfrm>
          <a:prstGeom prst="rect">
            <a:avLst/>
          </a:prstGeom>
        </p:spPr>
      </p:pic>
      <p:sp>
        <p:nvSpPr>
          <p:cNvPr id="4" name="mot-0"/>
          <p:cNvSpPr/>
          <p:nvPr/>
        </p:nvSpPr>
        <p:spPr>
          <a:xfrm>
            <a:off x="8031175" y="13258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5" name="mot-ico-0"/>
          <p:cNvSpPr/>
          <p:nvPr/>
        </p:nvSpPr>
        <p:spPr>
          <a:xfrm>
            <a:off x="10728655" y="16459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728655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14055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نجمة كل يوم</a:t>
            </a:r>
            <a:endParaRPr lang="ar-S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14055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تجمعها بعد الجلسة</a:t>
            </a:r>
            <a:endParaRPr lang="ar-SA" sz="1400" dirty="0"/>
          </a:p>
        </p:txBody>
      </p:sp>
      <p:sp>
        <p:nvSpPr>
          <p:cNvPr id="9" name="mot-1"/>
          <p:cNvSpPr/>
          <p:nvPr/>
        </p:nvSpPr>
        <p:spPr>
          <a:xfrm>
            <a:off x="4144975" y="13258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0" name="mot-ico-1"/>
          <p:cNvSpPr/>
          <p:nvPr/>
        </p:nvSpPr>
        <p:spPr>
          <a:xfrm>
            <a:off x="6842455" y="16459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42455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327855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أوسمة</a:t>
            </a:r>
            <a:endParaRPr lang="ar-SA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327855" y="2011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أول سورة، 5 سور، 15 صوت…</a:t>
            </a:r>
            <a:endParaRPr lang="ar-SA" sz="1400" dirty="0"/>
          </a:p>
        </p:txBody>
      </p:sp>
      <p:sp>
        <p:nvSpPr>
          <p:cNvPr id="14" name="mot-2"/>
          <p:cNvSpPr/>
          <p:nvPr/>
        </p:nvSpPr>
        <p:spPr>
          <a:xfrm>
            <a:off x="8031175" y="29260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5" name="mot-ico-2"/>
          <p:cNvSpPr/>
          <p:nvPr/>
        </p:nvSpPr>
        <p:spPr>
          <a:xfrm>
            <a:off x="10728655" y="32461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728655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214055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صندوق الخميس</a:t>
            </a:r>
            <a:endParaRPr lang="ar-SA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14055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5 نجوم = مكافأة يحددها الأهل</a:t>
            </a:r>
            <a:endParaRPr lang="ar-SA" sz="1400" dirty="0"/>
          </a:p>
        </p:txBody>
      </p:sp>
      <p:sp>
        <p:nvSpPr>
          <p:cNvPr id="19" name="mot-3"/>
          <p:cNvSpPr/>
          <p:nvPr/>
        </p:nvSpPr>
        <p:spPr>
          <a:xfrm>
            <a:off x="4144975" y="29260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0" name="mot-ico-3"/>
          <p:cNvSpPr/>
          <p:nvPr/>
        </p:nvSpPr>
        <p:spPr>
          <a:xfrm>
            <a:off x="6842455" y="32461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2455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4327855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أيام ورا بعض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327855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عدّاد يشجّع على الاستمرار</a:t>
            </a:r>
            <a:endParaRPr lang="ar-SA" sz="1400" dirty="0"/>
          </a:p>
        </p:txBody>
      </p:sp>
      <p:sp>
        <p:nvSpPr>
          <p:cNvPr id="24" name="mot-4"/>
          <p:cNvSpPr/>
          <p:nvPr/>
        </p:nvSpPr>
        <p:spPr>
          <a:xfrm>
            <a:off x="8031175" y="45262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5" name="mot-ico-4"/>
          <p:cNvSpPr/>
          <p:nvPr/>
        </p:nvSpPr>
        <p:spPr>
          <a:xfrm>
            <a:off x="10728655" y="48463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728655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8214055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خريطة الرحلة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214055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كل سورة محفوظة = نجمة ذهبية</a:t>
            </a:r>
            <a:endParaRPr lang="ar-SA" sz="1400" dirty="0"/>
          </a:p>
        </p:txBody>
      </p:sp>
      <p:sp>
        <p:nvSpPr>
          <p:cNvPr id="29" name="mot-5"/>
          <p:cNvSpPr/>
          <p:nvPr/>
        </p:nvSpPr>
        <p:spPr>
          <a:xfrm>
            <a:off x="4144975" y="4526280"/>
            <a:ext cx="3611880" cy="1371600"/>
          </a:xfrm>
          <a:prstGeom prst="roundRect">
            <a:avLst>
              <a:gd name="adj" fmla="val 14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30" name="mot-ico-5"/>
          <p:cNvSpPr/>
          <p:nvPr/>
        </p:nvSpPr>
        <p:spPr>
          <a:xfrm>
            <a:off x="6842455" y="4846320"/>
            <a:ext cx="731520" cy="731520"/>
          </a:xfrm>
          <a:prstGeom prst="ellipse">
            <a:avLst/>
          </a:prstGeom>
          <a:solidFill>
            <a:srgbClr val="FFF1C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42455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4327855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نجمة تتكلّم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327855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المسيها وتسمعين تشجيع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وضع الوالدين: متابعة بدون تعب</a:t>
            </a:r>
            <a:endParaRPr lang="en-US" sz="3600" dirty="0"/>
          </a:p>
        </p:txBody>
      </p:sp>
      <p:pic>
        <p:nvPicPr>
          <p:cNvPr id="3" name="phone-parent" descr="/tmp/claude-0/-home-user-yasmina-app/2555f106-78c0-5b0d-99e9-a3fe93f08748/scratchpad/t/mk/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555199" cy="5120640"/>
          </a:xfrm>
          <a:prstGeom prst="rect">
            <a:avLst/>
          </a:prstGeom>
        </p:spPr>
      </p:pic>
      <p:sp>
        <p:nvSpPr>
          <p:cNvPr id="4" name="par-0"/>
          <p:cNvSpPr/>
          <p:nvPr/>
        </p:nvSpPr>
        <p:spPr>
          <a:xfrm>
            <a:off x="3931920" y="1325880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10957255" y="1325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1325880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رقم سري: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يحمي الإعدادات، ولو انتسى يُسترجع بسؤال للكبار</a:t>
            </a:r>
            <a:endParaRPr lang="ar-SA" sz="1500" dirty="0"/>
          </a:p>
        </p:txBody>
      </p:sp>
      <p:sp>
        <p:nvSpPr>
          <p:cNvPr id="7" name="par-1"/>
          <p:cNvSpPr/>
          <p:nvPr/>
        </p:nvSpPr>
        <p:spPr>
          <a:xfrm>
            <a:off x="3931920" y="2112264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957255" y="21122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112264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جدول الأسبوع: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إيش حفظت، ونتيجة المراجعة، وملاحظات لكل يوم</a:t>
            </a:r>
            <a:endParaRPr lang="ar-SA" sz="1500" dirty="0"/>
          </a:p>
        </p:txBody>
      </p:sp>
      <p:sp>
        <p:nvSpPr>
          <p:cNvPr id="10" name="par-2"/>
          <p:cNvSpPr/>
          <p:nvPr/>
        </p:nvSpPr>
        <p:spPr>
          <a:xfrm>
            <a:off x="3931920" y="2898648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57255" y="28986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898648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سجل التسميع: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صح أو يحتاج مراجعة لكل آية</a:t>
            </a:r>
            <a:endParaRPr lang="ar-SA" sz="1500" dirty="0"/>
          </a:p>
        </p:txBody>
      </p:sp>
      <p:sp>
        <p:nvSpPr>
          <p:cNvPr id="13" name="par-3"/>
          <p:cNvSpPr/>
          <p:nvPr/>
        </p:nvSpPr>
        <p:spPr>
          <a:xfrm>
            <a:off x="3931920" y="3685032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957255" y="36850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685032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تنبيهات المستوى: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يقترح زيادة أو تقليل المقدار حسب الأداء</a:t>
            </a:r>
            <a:endParaRPr lang="ar-SA" sz="1500" dirty="0"/>
          </a:p>
        </p:txBody>
      </p:sp>
      <p:sp>
        <p:nvSpPr>
          <p:cNvPr id="16" name="par-4"/>
          <p:cNvSpPr/>
          <p:nvPr/>
        </p:nvSpPr>
        <p:spPr>
          <a:xfrm>
            <a:off x="3931920" y="4471416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0957255" y="44714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4471416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صوت الأهل: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يسجّلون أصوات الحروف بدل الصوت الآلي</a:t>
            </a:r>
            <a:endParaRPr lang="ar-SA" sz="1500" dirty="0"/>
          </a:p>
        </p:txBody>
      </p:sp>
      <p:sp>
        <p:nvSpPr>
          <p:cNvPr id="19" name="par-5"/>
          <p:cNvSpPr/>
          <p:nvPr/>
        </p:nvSpPr>
        <p:spPr>
          <a:xfrm>
            <a:off x="3931920" y="5257800"/>
            <a:ext cx="7711135" cy="658368"/>
          </a:xfrm>
          <a:prstGeom prst="roundRect">
            <a:avLst>
              <a:gd name="adj" fmla="val 305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0957255" y="52578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5257800"/>
            <a:ext cx="67967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4B1640"/>
                </a:solidFill>
              </a:rPr>
              <a:t>نسخة احتياطية:  </a:t>
            </a:r>
            <a:pPr algn="r" indent="0" marL="0">
              <a:buNone/>
            </a:pPr>
            <a:r>
              <a:rPr lang="ar-SA" altLang="en-US" sz="1500" dirty="0">
                <a:solidFill>
                  <a:srgbClr val="5A4560"/>
                </a:solidFill>
              </a:rPr>
              <a:t>تصدير واسترجاع التقدّم بملف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آمن ومطمئن للأسرة والمدرسة</a:t>
            </a:r>
            <a:endParaRPr lang="en-US" sz="3600" dirty="0"/>
          </a:p>
        </p:txBody>
      </p:sp>
      <p:sp>
        <p:nvSpPr>
          <p:cNvPr id="3" name="safe-0"/>
          <p:cNvSpPr/>
          <p:nvPr/>
        </p:nvSpPr>
        <p:spPr>
          <a:xfrm>
            <a:off x="8127797" y="141732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4" name="safe-ico-0"/>
          <p:cNvSpPr/>
          <p:nvPr/>
        </p:nvSpPr>
        <p:spPr>
          <a:xfrm>
            <a:off x="9473946" y="1645920"/>
            <a:ext cx="822960" cy="822960"/>
          </a:xfrm>
          <a:prstGeom prst="ellipse">
            <a:avLst/>
          </a:prstGeom>
          <a:solidFill>
            <a:srgbClr val="FFD1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73946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310677" y="25146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بدون حسابات</a:t>
            </a:r>
            <a:endParaRPr lang="ar-SA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310677" y="29260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لا تسجيل، لا إيميل، لا رقم جوال</a:t>
            </a:r>
            <a:endParaRPr lang="ar-SA" sz="1400" dirty="0"/>
          </a:p>
        </p:txBody>
      </p:sp>
      <p:sp>
        <p:nvSpPr>
          <p:cNvPr id="8" name="safe-1"/>
          <p:cNvSpPr/>
          <p:nvPr/>
        </p:nvSpPr>
        <p:spPr>
          <a:xfrm>
            <a:off x="4338218" y="141732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9" name="safe-ico-1"/>
          <p:cNvSpPr/>
          <p:nvPr/>
        </p:nvSpPr>
        <p:spPr>
          <a:xfrm>
            <a:off x="5684368" y="1645920"/>
            <a:ext cx="822960" cy="822960"/>
          </a:xfrm>
          <a:prstGeom prst="ellipse">
            <a:avLst/>
          </a:prstGeom>
          <a:solidFill>
            <a:srgbClr val="CBF3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84368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25146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البيانات على الجهاز</a:t>
            </a:r>
            <a:endParaRPr lang="ar-SA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21098" y="29260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ما ينرسل أي شي لأي خادم</a:t>
            </a:r>
            <a:endParaRPr lang="ar-SA" sz="1400" dirty="0"/>
          </a:p>
        </p:txBody>
      </p:sp>
      <p:sp>
        <p:nvSpPr>
          <p:cNvPr id="13" name="safe-2"/>
          <p:cNvSpPr/>
          <p:nvPr/>
        </p:nvSpPr>
        <p:spPr>
          <a:xfrm>
            <a:off x="548640" y="141732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4" name="safe-ico-2"/>
          <p:cNvSpPr/>
          <p:nvPr/>
        </p:nvSpPr>
        <p:spPr>
          <a:xfrm>
            <a:off x="1894789" y="1645920"/>
            <a:ext cx="822960" cy="822960"/>
          </a:xfrm>
          <a:prstGeom prst="ellipse">
            <a:avLst/>
          </a:prstGeom>
          <a:solidFill>
            <a:srgbClr val="D6F3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94789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5146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بدون إعلانات</a:t>
            </a:r>
            <a:endParaRPr lang="ar-SA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92608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ولا روابط خارجية للطفلة</a:t>
            </a:r>
            <a:endParaRPr lang="ar-SA" sz="1400" dirty="0"/>
          </a:p>
        </p:txBody>
      </p:sp>
      <p:sp>
        <p:nvSpPr>
          <p:cNvPr id="18" name="safe-3"/>
          <p:cNvSpPr/>
          <p:nvPr/>
        </p:nvSpPr>
        <p:spPr>
          <a:xfrm>
            <a:off x="8127797" y="374904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9" name="safe-ico-3"/>
          <p:cNvSpPr/>
          <p:nvPr/>
        </p:nvSpPr>
        <p:spPr>
          <a:xfrm>
            <a:off x="9473946" y="3977640"/>
            <a:ext cx="822960" cy="822960"/>
          </a:xfrm>
          <a:prstGeom prst="ellipse">
            <a:avLst/>
          </a:prstGeom>
          <a:solidFill>
            <a:srgbClr val="FFD1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73946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🔇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484632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بلا موسيقى ولا وجوه</a:t>
            </a:r>
            <a:endParaRPr lang="ar-SA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10677" y="52578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مؤثرات صوتية بسيطة يمكن كتمها</a:t>
            </a:r>
            <a:endParaRPr lang="ar-SA" sz="1400" dirty="0"/>
          </a:p>
        </p:txBody>
      </p:sp>
      <p:sp>
        <p:nvSpPr>
          <p:cNvPr id="23" name="safe-4"/>
          <p:cNvSpPr/>
          <p:nvPr/>
        </p:nvSpPr>
        <p:spPr>
          <a:xfrm>
            <a:off x="4338218" y="374904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4" name="safe-ico-4"/>
          <p:cNvSpPr/>
          <p:nvPr/>
        </p:nvSpPr>
        <p:spPr>
          <a:xfrm>
            <a:off x="5684368" y="3977640"/>
            <a:ext cx="822960" cy="822960"/>
          </a:xfrm>
          <a:prstGeom prst="ellipse">
            <a:avLst/>
          </a:prstGeom>
          <a:solidFill>
            <a:srgbClr val="CBF3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84368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521098" y="484632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يشتغل بدون نت</a:t>
            </a:r>
            <a:endParaRPr lang="ar-SA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521098" y="52578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بعد أول فتح، والتلاوة تنحفظ للاستماع</a:t>
            </a:r>
            <a:endParaRPr lang="ar-SA" sz="1400" dirty="0"/>
          </a:p>
        </p:txBody>
      </p:sp>
      <p:sp>
        <p:nvSpPr>
          <p:cNvPr id="28" name="safe-5"/>
          <p:cNvSpPr/>
          <p:nvPr/>
        </p:nvSpPr>
        <p:spPr>
          <a:xfrm>
            <a:off x="548640" y="3749040"/>
            <a:ext cx="3515258" cy="2057400"/>
          </a:xfrm>
          <a:prstGeom prst="roundRect">
            <a:avLst>
              <a:gd name="adj" fmla="val 97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9" name="safe-ico-5"/>
          <p:cNvSpPr/>
          <p:nvPr/>
        </p:nvSpPr>
        <p:spPr>
          <a:xfrm>
            <a:off x="1894789" y="3977640"/>
            <a:ext cx="822960" cy="822960"/>
          </a:xfrm>
          <a:prstGeom prst="ellipse">
            <a:avLst/>
          </a:prstGeom>
          <a:solidFill>
            <a:srgbClr val="D6F3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894789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84632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مصادر موثّقة</a:t>
            </a:r>
            <a:endParaRPr lang="ar-SA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25780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الرسم العثماني وتلاوة الحصري المعلّم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التثبيت كتطبيق في دقيقة</a:t>
            </a:r>
            <a:endParaRPr lang="en-US" sz="3600" dirty="0"/>
          </a:p>
        </p:txBody>
      </p:sp>
      <p:pic>
        <p:nvPicPr>
          <p:cNvPr id="3" name="phone-install" descr="/tmp/claude-0/-home-user-yasmina-app/2555f106-78c0-5b0d-99e9-a3fe93f08748/scratchpad/t/mk/ins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555199" cy="5120640"/>
          </a:xfrm>
          <a:prstGeom prst="rect">
            <a:avLst/>
          </a:prstGeom>
        </p:spPr>
      </p:pic>
      <p:sp>
        <p:nvSpPr>
          <p:cNvPr id="4" name="inst-0"/>
          <p:cNvSpPr/>
          <p:nvPr/>
        </p:nvSpPr>
        <p:spPr>
          <a:xfrm>
            <a:off x="8396935" y="1325880"/>
            <a:ext cx="3246120" cy="3246120"/>
          </a:xfrm>
          <a:prstGeom prst="roundRect">
            <a:avLst>
              <a:gd name="adj" fmla="val 6197"/>
            </a:avLst>
          </a:prstGeom>
          <a:solidFill>
            <a:srgbClr val="FFD1E8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625535" y="15087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📱 آيفون وآيباد</a:t>
            </a:r>
            <a:endParaRPr lang="ar-SA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0957255" y="219456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79815" y="20756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افتحي الرابط في Safari</a:t>
            </a:r>
            <a:endParaRPr lang="ar-SA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57255" y="297180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79815" y="28529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زر المشاركة ⬆️</a:t>
            </a:r>
            <a:endParaRPr lang="ar-SA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57255" y="374904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79815" y="36301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«إضافة إلى الشاشة الرئيسية» ثم «إضافة»</a:t>
            </a:r>
            <a:endParaRPr lang="ar-SA" sz="1500" dirty="0"/>
          </a:p>
        </p:txBody>
      </p:sp>
      <p:sp>
        <p:nvSpPr>
          <p:cNvPr id="12" name="inst-1"/>
          <p:cNvSpPr/>
          <p:nvPr/>
        </p:nvSpPr>
        <p:spPr>
          <a:xfrm>
            <a:off x="4876495" y="1325880"/>
            <a:ext cx="3246120" cy="3246120"/>
          </a:xfrm>
          <a:prstGeom prst="roundRect">
            <a:avLst>
              <a:gd name="adj" fmla="val 6197"/>
            </a:avLst>
          </a:prstGeom>
          <a:solidFill>
            <a:srgbClr val="CBF3EC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05095" y="15087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🤖 أندرويد</a:t>
            </a:r>
            <a:endParaRPr lang="ar-SA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436815" y="219456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59375" y="20756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افتحي الرابط في Chrome</a:t>
            </a:r>
            <a:endParaRPr lang="ar-SA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436815" y="297180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59375" y="28529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النقاط الثلاث ⋮</a:t>
            </a:r>
            <a:endParaRPr lang="ar-SA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436815" y="3749040"/>
            <a:ext cx="438912" cy="438912"/>
          </a:xfrm>
          <a:prstGeom prst="ellipse">
            <a:avLst/>
          </a:prstGeom>
          <a:solidFill>
            <a:srgbClr val="FF6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059375" y="36301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«تثبيت التطبيق» ثم «تثبيت»</a:t>
            </a:r>
            <a:endParaRPr lang="ar-SA" sz="1500" dirty="0"/>
          </a:p>
        </p:txBody>
      </p:sp>
      <p:sp>
        <p:nvSpPr>
          <p:cNvPr id="20" name="qr-card"/>
          <p:cNvSpPr/>
          <p:nvPr/>
        </p:nvSpPr>
        <p:spPr>
          <a:xfrm>
            <a:off x="3931920" y="4800600"/>
            <a:ext cx="7711135" cy="1280160"/>
          </a:xfrm>
          <a:prstGeom prst="roundRect">
            <a:avLst>
              <a:gd name="adj" fmla="val 1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pic>
        <p:nvPicPr>
          <p:cNvPr id="21" name="qr" descr="/tmp/claude-0/-home-user-yasmina-app/2555f106-78c0-5b0d-99e9-a3fe93f08748/scratchpad/t/mk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873752"/>
            <a:ext cx="1133856" cy="113385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49240" y="4846320"/>
            <a:ext cx="61109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4B1640"/>
                </a:solidFill>
              </a:rPr>
              <a:t>امسحي الرمز أو افتحي الرابط: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600" u="sng" dirty="0">
                <a:solidFill>
                  <a:srgbClr val="C2185B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almuhalhal94-hash.github.io/yasmina-app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خطة إطلاق مقترحة في المدرسة</a:t>
            </a:r>
            <a:endParaRPr lang="en-US" sz="3600" dirty="0"/>
          </a:p>
        </p:txBody>
      </p:sp>
      <p:sp>
        <p:nvSpPr>
          <p:cNvPr id="3" name="plan-0"/>
          <p:cNvSpPr/>
          <p:nvPr/>
        </p:nvSpPr>
        <p:spPr>
          <a:xfrm>
            <a:off x="9075191" y="1463040"/>
            <a:ext cx="2567864" cy="4206240"/>
          </a:xfrm>
          <a:prstGeom prst="roundRect">
            <a:avLst>
              <a:gd name="adj" fmla="val 78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349511" y="1737360"/>
            <a:ext cx="2019224" cy="4572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الأسبوع 1</a:t>
            </a:r>
            <a:endParaRPr lang="ar-SA" sz="1500" dirty="0"/>
          </a:p>
        </p:txBody>
      </p:sp>
      <p:sp>
        <p:nvSpPr>
          <p:cNvPr id="5" name="plan-ico-0"/>
          <p:cNvSpPr/>
          <p:nvPr/>
        </p:nvSpPr>
        <p:spPr>
          <a:xfrm>
            <a:off x="9856203" y="2423160"/>
            <a:ext cx="1005840" cy="1005840"/>
          </a:xfrm>
          <a:prstGeom prst="ellipse">
            <a:avLst/>
          </a:prstGeom>
          <a:solidFill>
            <a:srgbClr val="FFD1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56203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👩‍🏫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58071" y="36118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تجربة المعلمات</a:t>
            </a:r>
            <a:endParaRPr lang="ar-S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03791" y="4206240"/>
            <a:ext cx="2110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عرض التطبيق على معلمات الصف الأول وأخذ ملاحظاتهن</a:t>
            </a:r>
            <a:endParaRPr lang="ar-SA" sz="1400" dirty="0"/>
          </a:p>
        </p:txBody>
      </p:sp>
      <p:sp>
        <p:nvSpPr>
          <p:cNvPr id="9" name="plan-1"/>
          <p:cNvSpPr/>
          <p:nvPr/>
        </p:nvSpPr>
        <p:spPr>
          <a:xfrm>
            <a:off x="6233008" y="1463040"/>
            <a:ext cx="2567864" cy="4206240"/>
          </a:xfrm>
          <a:prstGeom prst="roundRect">
            <a:avLst>
              <a:gd name="adj" fmla="val 78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07328" y="1737360"/>
            <a:ext cx="2019224" cy="4572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الأسبوع 2</a:t>
            </a:r>
            <a:endParaRPr lang="ar-SA" sz="1500" dirty="0"/>
          </a:p>
        </p:txBody>
      </p:sp>
      <p:sp>
        <p:nvSpPr>
          <p:cNvPr id="11" name="plan-ico-1"/>
          <p:cNvSpPr/>
          <p:nvPr/>
        </p:nvSpPr>
        <p:spPr>
          <a:xfrm>
            <a:off x="7014020" y="2423160"/>
            <a:ext cx="1005840" cy="1005840"/>
          </a:xfrm>
          <a:prstGeom prst="ellipse">
            <a:avLst/>
          </a:prstGeom>
          <a:solidFill>
            <a:srgbClr val="CBF3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402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📩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36118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رسالة لأولياء الأمور</a:t>
            </a:r>
            <a:endParaRPr lang="ar-SA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206240"/>
            <a:ext cx="2110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الرابط ورمز QR والفيديو التوجيهي عبر قنوات المدرسة</a:t>
            </a:r>
            <a:endParaRPr lang="ar-SA" sz="1400" dirty="0"/>
          </a:p>
        </p:txBody>
      </p:sp>
      <p:sp>
        <p:nvSpPr>
          <p:cNvPr id="15" name="plan-2"/>
          <p:cNvSpPr/>
          <p:nvPr/>
        </p:nvSpPr>
        <p:spPr>
          <a:xfrm>
            <a:off x="3390824" y="1463040"/>
            <a:ext cx="2567864" cy="4206240"/>
          </a:xfrm>
          <a:prstGeom prst="roundRect">
            <a:avLst>
              <a:gd name="adj" fmla="val 78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65144" y="1737360"/>
            <a:ext cx="2019224" cy="4572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الأسبوع 3</a:t>
            </a:r>
            <a:endParaRPr lang="ar-SA" sz="1500" dirty="0"/>
          </a:p>
        </p:txBody>
      </p:sp>
      <p:sp>
        <p:nvSpPr>
          <p:cNvPr id="17" name="plan-ico-2"/>
          <p:cNvSpPr/>
          <p:nvPr/>
        </p:nvSpPr>
        <p:spPr>
          <a:xfrm>
            <a:off x="4171836" y="2423160"/>
            <a:ext cx="1005840" cy="1005840"/>
          </a:xfrm>
          <a:prstGeom prst="ellipse">
            <a:avLst/>
          </a:prstGeom>
          <a:solidFill>
            <a:srgbClr val="FFE8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71836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573704" y="36118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تحدّي «نجمة الأسبوع»</a:t>
            </a:r>
            <a:endParaRPr lang="ar-SA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619424" y="4206240"/>
            <a:ext cx="2110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تكريم الطالبات اللي يجمعن 5 نجوم في الأسبوع</a:t>
            </a:r>
            <a:endParaRPr lang="ar-SA" sz="1400" dirty="0"/>
          </a:p>
        </p:txBody>
      </p:sp>
      <p:sp>
        <p:nvSpPr>
          <p:cNvPr id="21" name="plan-3"/>
          <p:cNvSpPr/>
          <p:nvPr/>
        </p:nvSpPr>
        <p:spPr>
          <a:xfrm>
            <a:off x="548640" y="1463040"/>
            <a:ext cx="2567864" cy="4206240"/>
          </a:xfrm>
          <a:prstGeom prst="roundRect">
            <a:avLst>
              <a:gd name="adj" fmla="val 78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9B3C78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1737360"/>
            <a:ext cx="2019224" cy="457200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كل شهر</a:t>
            </a:r>
            <a:endParaRPr lang="ar-SA" sz="1500" dirty="0"/>
          </a:p>
        </p:txBody>
      </p:sp>
      <p:sp>
        <p:nvSpPr>
          <p:cNvPr id="23" name="plan-ico-3"/>
          <p:cNvSpPr/>
          <p:nvPr/>
        </p:nvSpPr>
        <p:spPr>
          <a:xfrm>
            <a:off x="1329652" y="2423160"/>
            <a:ext cx="1005840" cy="1005840"/>
          </a:xfrm>
          <a:prstGeom prst="ellipse">
            <a:avLst/>
          </a:prstGeom>
          <a:solidFill>
            <a:srgbClr val="ECE2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329652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611880"/>
            <a:ext cx="2202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متابعة وتطوير</a:t>
            </a:r>
            <a:endParaRPr lang="ar-SA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206240"/>
            <a:ext cx="21106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A4560"/>
                </a:solidFill>
              </a:rPr>
              <a:t>إضافة دروس الفصل الثاني حسب ملاحظات المدرسة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6B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2"/>
          <p:cNvSpPr/>
          <p:nvPr/>
        </p:nvSpPr>
        <p:spPr>
          <a:xfrm>
            <a:off x="6949440" y="-1371600"/>
            <a:ext cx="6400800" cy="6400800"/>
          </a:xfrm>
          <a:prstGeom prst="ellipse">
            <a:avLst/>
          </a:prstGeom>
          <a:solidFill>
            <a:srgbClr val="9B72CF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06240" y="123444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rgbClr val="FFFFFF"/>
                </a:solidFill>
              </a:rPr>
              <a:t>ياسمينة رفيقة كل طالبة</a:t>
            </a:r>
            <a:endParaRPr lang="ar-SA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265176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900" dirty="0">
                <a:solidFill>
                  <a:srgbClr val="FFD1E8"/>
                </a:solidFill>
              </a:rPr>
              <a:t>نتشرّف بتقديم التطبيق هدية لطالبات مدرسة المستقبل الابتدائية للبنات، ونسعد بملاحظات الإدارة والمعلمات</a:t>
            </a:r>
            <a:endParaRPr lang="ar-SA" sz="1900" dirty="0"/>
          </a:p>
        </p:txBody>
      </p:sp>
      <p:sp>
        <p:nvSpPr>
          <p:cNvPr id="5" name="qr-bg"/>
          <p:cNvSpPr/>
          <p:nvPr/>
        </p:nvSpPr>
        <p:spPr>
          <a:xfrm>
            <a:off x="548640" y="132588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pic>
        <p:nvPicPr>
          <p:cNvPr id="6" name="qr-big" descr="/tmp/claude-0/-home-user-yasmina-app/2555f106-78c0-5b0d-99e9-a3fe93f08748/scratchpad/t/mk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743200" cy="2743200"/>
          </a:xfrm>
          <a:prstGeom prst="rect">
            <a:avLst/>
          </a:prstGeom>
        </p:spPr>
      </p:pic>
      <p:sp>
        <p:nvSpPr>
          <p:cNvPr id="7" name="Text 4">
            <a:hlinkClick r:id="rId2" tooltip=""/>
          </p:cNvPr>
          <p:cNvSpPr txBox="1"/>
          <p:nvPr/>
        </p:nvSpPr>
        <p:spPr>
          <a:xfrm>
            <a:off x="27432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FFD1E8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almuhalhal94-hash.github.io/yasmina-app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41148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FFB703"/>
                </a:solidFill>
              </a:rPr>
              <a:t>شكرًا لكم</a:t>
            </a:r>
            <a:endParaRPr lang="ar-SA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49377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D8B6CF"/>
                </a:solidFill>
              </a:rPr>
              <a:t>أ. طلال المهلهل — ولي أمر طالبة</a:t>
            </a:r>
            <a:endParaRPr lang="ar-SA" sz="15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smina Blossom">
  <a:themeElements>
    <a:clrScheme name="Yasmina Blossom">
      <a:dk1>
        <a:srgbClr val="3A2340"/>
      </a:dk1>
      <a:lt1>
        <a:srgbClr val="FFFFFF"/>
      </a:lt1>
      <a:dk2>
        <a:srgbClr val="4B1640"/>
      </a:dk2>
      <a:lt2>
        <a:srgbClr val="FFF0F6"/>
      </a:lt2>
      <a:accent1>
        <a:srgbClr val="FF6FB5"/>
      </a:accent1>
      <a:accent2>
        <a:srgbClr val="FFB703"/>
      </a:accent2>
      <a:accent3>
        <a:srgbClr val="9B72CF"/>
      </a:accent3>
      <a:accent4>
        <a:srgbClr val="2EC4B6"/>
      </a:accent4>
      <a:accent5>
        <a:srgbClr val="4CC9F0"/>
      </a:accent5>
      <a:accent6>
        <a:srgbClr val="FFD1E8"/>
      </a:accent6>
      <a:hlink>
        <a:srgbClr val="C2185B"/>
      </a:hlink>
      <a:folHlink>
        <a:srgbClr val="9B72CF"/>
      </a:folHlink>
    </a:clrScheme>
    <a:fontScheme name="Yasmina Bloss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ياسمينة — مقترح لمدرسة المستقبل الابتدائية للبنات</dc:title>
  <dc:subject>PptxGenJS Presentation</dc:subject>
  <dc:creator>أ. طلال المهلهل</dc:creator>
  <cp:lastModifiedBy>أ. طلال المهلهل</cp:lastModifiedBy>
  <cp:revision>1</cp:revision>
  <dcterms:created xsi:type="dcterms:W3CDTF">2026-10-15T05:04:36Z</dcterms:created>
  <dcterms:modified xsi:type="dcterms:W3CDTF">2026-10-15T05:04:36Z</dcterms:modified>
</cp:coreProperties>
</file>